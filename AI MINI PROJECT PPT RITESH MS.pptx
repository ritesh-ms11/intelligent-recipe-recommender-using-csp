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58" r:id="rId5"/>
    <p:sldId id="260" r:id="rId6"/>
    <p:sldId id="263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EF56DB-6447-4E9A-8D0B-327B958AB26D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76D98-D61B-4655-9F07-885518B2E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9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2F0ED-5252-4C0D-3BA2-BA6ECDF90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F6E366-4DE2-8E81-1DC3-0AEE197AF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19ECA-A45F-0986-41DE-E73470F3D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8A127-BB09-41A4-B1CB-CF09F8E9604A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C80E-2DDD-1136-4BC6-B4406DBF7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6432E-64B5-4716-F794-CD0C848FE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28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75F44-3844-F881-3DC9-E55F3A5BB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5DD6E-70DC-EC37-F363-8CA0371D4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84CC4-4338-D905-6FCE-6141610CE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9C543-C1A5-4BB5-A80B-9531F5C51CEB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6F4CB-E19E-BF21-CA04-20FBF9E0B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561CA-A7D9-921E-283C-D2D26EC9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8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F0DB8-4328-6842-4C20-194E16496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C16DD-B055-C373-DB9C-1095E3A7F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08B3A-5B20-B104-4DC9-F294FE85D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2ABE-BEC8-4A12-8AF2-3E9347C9F9C5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F6EF1-C2BF-E0B8-5AD2-1E80894A9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C3E5B-79C1-F551-EB78-424972E4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75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FA2CF-D4B2-C0EA-7D8B-9997981DF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EC816-FAB0-61B5-B8A9-3CEEDE3AC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88030-9606-40F3-F568-569861E67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6BC2E-18CA-513E-BBD3-A4A6A4682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CA91-FD83-4EFE-93EA-63992C03614F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0C424-8EE7-DCF3-92CA-9943CA217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02771-6578-A3F3-2DE5-957F26935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01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A56EB-15F3-DA5A-FC5F-C8A9854DF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F55B3-769C-0F68-56E4-09A31651F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390E3-482E-14E5-E93E-3EFDFCA02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5F7FD4-A0A2-100E-247B-0439DA6A8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B19785-7F9E-F7E7-9989-FBA2A2436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9BF4CB-4B11-6795-84C1-91B139428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C43A-13E2-48A2-BAE5-CC73887FC199}" type="datetime1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2FCB82-5972-D333-E21C-DF24F6BCF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2211A-324E-9069-32B0-8F509730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8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0A965-A2B0-80BB-C6BA-CCCFA272A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A2016-FBBB-4A1F-6F9E-FE6A63DE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C5D3-416C-4131-8BC9-E71DA97D5A64}" type="datetime1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E845DF-F961-5466-32C3-C6385060C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E057F6-928A-6D9F-4161-C04DEAA83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7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B366D7-6680-4FD6-C029-DC5C0BB2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93-8386-48B7-BB85-87C0949B2086}" type="datetime1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79984-8567-91CB-0310-29A3752B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C7A0D-606C-3BF9-8DBE-908D8096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76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684C1-8596-31A1-180D-C7EC5332B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762C2-B7CC-ADA3-9D39-3541B3FE5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5A5F9-7E68-401F-C3BB-09FB74F82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F73E6-ECB8-2943-41D8-05812D848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F398-88D3-4D2F-9F7E-785BF8AD0274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B5AF7-95CA-05D2-1119-F667C7B6F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99C23-C916-AE53-9371-42CF3819D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91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9AC56-39A4-2278-722C-617F9F770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FAD1B2-1942-74FB-C400-0DB0C13B9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DA8F38-E9BE-47E4-7662-3CD4AECCB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8AE0B-2CCA-EDA3-1B80-8F2E1DF84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94C1-07AC-4775-8A4F-70BB05306BF7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B1342-9AFD-57F0-2E90-76ECCEAFA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180B8-E20A-6138-1A1C-1E980CAD4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94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050B6-05B4-E3FE-22C0-B823946C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34B519-CE0F-EF5E-0363-067F1B0DB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2CA70-5E41-1433-D1D4-58B7EECA7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F149-3A71-4B38-9BDE-7A4D7C7AB1AD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7E013-1DD3-69EC-2DB2-F95CD3491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2FAA7-8459-22BB-DD92-45D2DCDB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65F096-56EB-9C2E-FB81-FEE0A0CAD9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2D9855-6F39-E67A-6BE9-0AC527E97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113E1-9951-703E-A152-D5CEEC0EE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5CF1-83E4-4056-B983-BD617F30DAFA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63D87-637E-E53B-45EF-5E53B2925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677AB-ED08-1C04-AEC4-B8B3B85B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2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4DB59C-E06D-9064-D0E9-EE878347C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B2644-B987-EA40-64D1-C253A45B0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C9483-BDE6-AF2E-5EF6-5FD8C63DA8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A37CB-3111-4E43-978B-840B0C3E984E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45DA1-9E37-8BE4-5FD8-308623973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78D0E-8A6B-A368-9312-1F3C29DDB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27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itesh-MS11/Intelligent-Recipe-Recommender-Using-CSP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F15FA6-086D-491A-B175-0CA4656FBDCB}"/>
              </a:ext>
            </a:extLst>
          </p:cNvPr>
          <p:cNvPicPr/>
          <p:nvPr/>
        </p:nvPicPr>
        <p:blipFill>
          <a:blip r:embed="rId2" cstate="print"/>
          <a:srcRect l="21229" t="27213" r="21523" b="35253"/>
          <a:stretch>
            <a:fillRect/>
          </a:stretch>
        </p:blipFill>
        <p:spPr bwMode="auto">
          <a:xfrm>
            <a:off x="3256548" y="136525"/>
            <a:ext cx="4776536" cy="834189"/>
          </a:xfrm>
          <a:prstGeom prst="rect">
            <a:avLst/>
          </a:prstGeom>
          <a:ln>
            <a:headEnd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BEE647A-5606-A6E5-93DB-A43A8FC2D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138" y="1251284"/>
            <a:ext cx="10812378" cy="2458586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DATA SCIENCE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2025 - 2026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 III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LABORATORY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REVIEW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&lt;INTELLIGENT RECIPE RECOMMENDER USING CONSTRAINT SATISFACTION PROBLEM&gt;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39E0012-B3AF-E718-6BBA-5D37629E4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596355"/>
              </p:ext>
            </p:extLst>
          </p:nvPr>
        </p:nvGraphicFramePr>
        <p:xfrm>
          <a:off x="2098841" y="3845961"/>
          <a:ext cx="8392696" cy="24585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16485">
                  <a:extLst>
                    <a:ext uri="{9D8B030D-6E8A-4147-A177-3AD203B41FA5}">
                      <a16:colId xmlns:a16="http://schemas.microsoft.com/office/drawing/2014/main" val="1924387309"/>
                    </a:ext>
                  </a:extLst>
                </a:gridCol>
                <a:gridCol w="6176211">
                  <a:extLst>
                    <a:ext uri="{9D8B030D-6E8A-4147-A177-3AD203B41FA5}">
                      <a16:colId xmlns:a16="http://schemas.microsoft.com/office/drawing/2014/main" val="471423325"/>
                    </a:ext>
                  </a:extLst>
                </a:gridCol>
              </a:tblGrid>
              <a:tr h="486314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REGISTER NUMBER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2117240070256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70341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RITESH M.S.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366592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YEAR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II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965190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SECTION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06844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FACULTY IN-CHARGE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BHAVANI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199969"/>
                  </a:ext>
                </a:extLst>
              </a:tr>
            </a:tbl>
          </a:graphicData>
        </a:graphic>
      </p:graphicFrame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6B174A57-15CE-2FFD-86D9-B7E846924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B098-7844-408D-9BB3-6B083FBEE8AA}" type="datetime1">
              <a:rPr lang="en-US" smtClean="0"/>
              <a:t>11/3/2025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873981-939E-932D-DBE2-6B02CC92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93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E759A-0732-65F8-ABFC-93E81441B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PROBLEM STATEMENT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17474-C476-1051-3F37-A2159E2BE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148"/>
            <a:ext cx="10515600" cy="5358816"/>
          </a:xfrm>
        </p:spPr>
        <p:txBody>
          <a:bodyPr>
            <a:normAutofit/>
          </a:bodyPr>
          <a:lstStyle/>
          <a:p>
            <a:r>
              <a:rPr lang="en-US" b="1" dirty="0">
                <a:cs typeface="Times New Roman" panose="02020603050405020304" pitchFamily="18" charset="0"/>
              </a:rPr>
              <a:t>AI Overview: </a:t>
            </a:r>
            <a:r>
              <a:rPr lang="en-US" dirty="0">
                <a:cs typeface="Times New Roman" panose="02020603050405020304" pitchFamily="18" charset="0"/>
              </a:rPr>
              <a:t>Artificial Intelligence simulates human intelligence for reasoning and decision-making.</a:t>
            </a:r>
          </a:p>
          <a:p>
            <a:r>
              <a:rPr lang="en-US" b="1" dirty="0">
                <a:cs typeface="Times New Roman" panose="02020603050405020304" pitchFamily="18" charset="0"/>
              </a:rPr>
              <a:t>CSP Concept: </a:t>
            </a:r>
            <a:r>
              <a:rPr lang="en-US" dirty="0">
                <a:cs typeface="Times New Roman" panose="02020603050405020304" pitchFamily="18" charset="0"/>
              </a:rPr>
              <a:t>Defines variables, domains, and constraints to find feasible solutions.</a:t>
            </a:r>
          </a:p>
          <a:p>
            <a:r>
              <a:rPr lang="en-US" b="1" dirty="0">
                <a:cs typeface="Times New Roman" panose="02020603050405020304" pitchFamily="18" charset="0"/>
              </a:rPr>
              <a:t>Context: </a:t>
            </a:r>
            <a:r>
              <a:rPr lang="en-US" dirty="0">
                <a:cs typeface="Times New Roman" panose="02020603050405020304" pitchFamily="18" charset="0"/>
              </a:rPr>
              <a:t>People face difficulty in meal planning considering available ingredients, diet, and time.</a:t>
            </a:r>
          </a:p>
          <a:p>
            <a:r>
              <a:rPr lang="en-US" b="1" dirty="0">
                <a:cs typeface="Times New Roman" panose="02020603050405020304" pitchFamily="18" charset="0"/>
              </a:rPr>
              <a:t>Problem: </a:t>
            </a:r>
            <a:r>
              <a:rPr lang="en-US" dirty="0">
                <a:cs typeface="Times New Roman" panose="02020603050405020304" pitchFamily="18" charset="0"/>
              </a:rPr>
              <a:t>Traditional recipe searches ignore such constraints, causing inefficiency and food waste.</a:t>
            </a:r>
          </a:p>
          <a:p>
            <a:r>
              <a:rPr lang="en-US" b="1" dirty="0">
                <a:cs typeface="Times New Roman" panose="02020603050405020304" pitchFamily="18" charset="0"/>
              </a:rPr>
              <a:t>Aim: </a:t>
            </a:r>
            <a:r>
              <a:rPr lang="en-US" dirty="0">
                <a:cs typeface="Times New Roman" panose="02020603050405020304" pitchFamily="18" charset="0"/>
              </a:rPr>
              <a:t>To design an intelligent recipe recommender using CSP that suggests meals based on user constraints.</a:t>
            </a:r>
          </a:p>
          <a:p>
            <a:r>
              <a:rPr lang="en-US" b="1" dirty="0">
                <a:cs typeface="Times New Roman" panose="02020603050405020304" pitchFamily="18" charset="0"/>
              </a:rPr>
              <a:t>Expected Output: </a:t>
            </a:r>
            <a:r>
              <a:rPr lang="en-US" dirty="0">
                <a:cs typeface="Times New Roman" panose="02020603050405020304" pitchFamily="18" charset="0"/>
              </a:rPr>
              <a:t>Ranked recipe list satisfying dietary, time, and difficulty constraints.</a:t>
            </a:r>
          </a:p>
          <a:p>
            <a:pPr marL="0" indent="0">
              <a:buNone/>
            </a:pPr>
            <a:endParaRPr lang="en-US" sz="4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F5BCC-B36E-DFE5-103F-31FA1263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53399-F526-B4B1-D444-32B3A164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614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CC068-5F54-97E8-2F1C-0538F1126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2B1AF-B7ED-6DDA-888D-9BCAF08EA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THEORETICAL BACKGROUND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7243E-1300-82BE-9968-6837E801A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148"/>
            <a:ext cx="10515600" cy="5358816"/>
          </a:xfrm>
        </p:spPr>
        <p:txBody>
          <a:bodyPr>
            <a:normAutofit lnSpcReduction="10000"/>
          </a:bodyPr>
          <a:lstStyle/>
          <a:p>
            <a:r>
              <a:rPr lang="en-IN" sz="3600" b="1" dirty="0"/>
              <a:t>CSP Components: </a:t>
            </a:r>
            <a:r>
              <a:rPr lang="en-IN" sz="3600" dirty="0"/>
              <a:t>Variables (recipes), Domains (attributes), Constraints (diet, time, difficulty).</a:t>
            </a:r>
          </a:p>
          <a:p>
            <a:r>
              <a:rPr lang="en-IN" sz="3600" b="1" dirty="0"/>
              <a:t>Constraint Types: </a:t>
            </a:r>
            <a:r>
              <a:rPr lang="en-IN" sz="3600" dirty="0"/>
              <a:t>Hard – must satisfy (diet, time, skill); Soft – preferences (ingredient match, nutrition).</a:t>
            </a:r>
          </a:p>
          <a:p>
            <a:r>
              <a:rPr lang="en-IN" sz="3600" b="1" dirty="0"/>
              <a:t>Algorithms: </a:t>
            </a:r>
            <a:r>
              <a:rPr lang="en-IN" sz="3600" dirty="0"/>
              <a:t>Backtracking, Forward Checking, Arc Consistency.</a:t>
            </a:r>
          </a:p>
          <a:p>
            <a:r>
              <a:rPr lang="en-IN" sz="3600" b="1" dirty="0"/>
              <a:t>Chosen Algorithm: </a:t>
            </a:r>
            <a:r>
              <a:rPr lang="en-IN" sz="3600" dirty="0"/>
              <a:t>Forward Checking – eliminates invalid recipes early, improving efficiency by ~80%.</a:t>
            </a:r>
          </a:p>
          <a:p>
            <a:r>
              <a:rPr lang="en-IN" sz="3600" b="1" dirty="0"/>
              <a:t>Reason: </a:t>
            </a:r>
            <a:r>
              <a:rPr lang="en-IN" sz="3600" dirty="0"/>
              <a:t>Balances speed, completeness, and transparency.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593AB-ABA6-D8E8-42D9-A38FB7B4D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AE40CC-B05F-6325-A926-99504CD4A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692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34F6B-2294-8100-6428-71DD4A23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76350-5987-57CB-5096-A77DCA200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IMPLEMENTATION AND CODE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9904C-7E5E-5862-ACA4-167CDBC50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r>
              <a:rPr lang="en-US" sz="2400" dirty="0"/>
              <a:t>Language: Python 3.12</a:t>
            </a:r>
          </a:p>
          <a:p>
            <a:r>
              <a:rPr lang="en-US" sz="2400" dirty="0"/>
              <a:t>Approach: CSP solver with forward checking.</a:t>
            </a:r>
          </a:p>
          <a:p>
            <a:r>
              <a:rPr lang="en-US" sz="2400" dirty="0"/>
              <a:t>Recipe Data: Stored as dictionaries with dietary tags, time, difficulty, and nutrition.</a:t>
            </a:r>
          </a:p>
          <a:p>
            <a:endParaRPr lang="en-US" dirty="0"/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C0E82-F7C5-E4B3-8BB9-1583AC63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75014-201C-1110-C957-46A30A1C2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CE64048-76D1-E559-97A6-1E9DA8CC9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67939"/>
              </p:ext>
            </p:extLst>
          </p:nvPr>
        </p:nvGraphicFramePr>
        <p:xfrm>
          <a:off x="1854200" y="3068003"/>
          <a:ext cx="8128000" cy="31089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0520043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251959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List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Git-hub Repository Links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9369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Implementation of Code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https://github.com/Ritesh-MS11/Intelligent-Recipe-Recommender-Using-CSP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202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Word Document Report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https://github.com/Ritesh-MS11/Intelligent-Recipe-Recommender-Using-CSP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05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PPT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https://github.com/Ritesh-MS11/Intelligent-Recipe-Recommender-Using-CSP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241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586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55069-71B1-83F0-E5F5-B02F8F57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58887-D4AD-6383-79D6-F528D3482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6628656-D021-9C14-9E58-D3C7AF4909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0969" y="1228433"/>
            <a:ext cx="4182957" cy="49101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BACE5-322B-3F55-2CA9-8E1D41170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D1AF6B-7EFE-60E0-2350-AE083D01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5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A59C03-E279-A5BA-D25A-240A2B277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0270" y="1722209"/>
            <a:ext cx="5696745" cy="37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269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27B5B-F014-2BFF-4A07-B34AE5C44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94812-7CBB-26C8-8346-F2D5B8D10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AF778-FEBE-007C-7FA7-FABCE45A7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66110A-5F36-7407-DD46-E7443966F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08F4AF-DB4B-6B22-A715-3197D6A23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888" y="1253330"/>
            <a:ext cx="10515600" cy="5103019"/>
          </a:xfrm>
        </p:spPr>
        <p:txBody>
          <a:bodyPr>
            <a:normAutofit fontScale="92500" lnSpcReduction="20000"/>
          </a:bodyPr>
          <a:lstStyle/>
          <a:p>
            <a:r>
              <a:rPr lang="en-US" sz="3900" dirty="0"/>
              <a:t>100% accuracy in hard constraint validation.</a:t>
            </a:r>
          </a:p>
          <a:p>
            <a:r>
              <a:rPr lang="en-US" sz="3900" dirty="0"/>
              <a:t>Optimal results via multi-criteria ranking.</a:t>
            </a:r>
          </a:p>
          <a:p>
            <a:r>
              <a:rPr lang="en-US" sz="3900" dirty="0"/>
              <a:t>Linear time complexity (O(n)) for real-time performance.</a:t>
            </a:r>
          </a:p>
          <a:p>
            <a:r>
              <a:rPr lang="en-US" sz="3900" dirty="0"/>
              <a:t>Handles edge cases (no matches, full matches). </a:t>
            </a:r>
          </a:p>
          <a:p>
            <a:r>
              <a:rPr lang="en-US" sz="3900" b="1" dirty="0"/>
              <a:t>Short Term: </a:t>
            </a:r>
            <a:r>
              <a:rPr lang="en-US" sz="3900" dirty="0"/>
              <a:t>Expand recipes, add web app, ingredient substitutions.</a:t>
            </a:r>
          </a:p>
          <a:p>
            <a:r>
              <a:rPr lang="en-US" sz="3900" b="1" dirty="0"/>
              <a:t>Long Term: </a:t>
            </a:r>
            <a:r>
              <a:rPr lang="en-US" sz="3900" dirty="0"/>
              <a:t>Machine learning for personalization, nutrition optimization, knowledge graphs, voice interface.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2593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EA9EE-5679-A557-E7BF-0A904D097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6077-2697-7116-5A2C-99B8054B7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REFERENCES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B1971-AF7F-80EE-26ED-EA8A7E8C7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r>
              <a:rPr lang="en-IN" b="1" dirty="0"/>
              <a:t>1. Russell &amp; Norvig (2021) – Artificial Intelligence: A Modern Approach</a:t>
            </a:r>
          </a:p>
          <a:p>
            <a:r>
              <a:rPr lang="en-IN" b="1" dirty="0"/>
              <a:t>2. Aberg (2006) – Constraint-Based Meal Planning</a:t>
            </a:r>
          </a:p>
          <a:p>
            <a:r>
              <a:rPr lang="en-IN" b="1" dirty="0"/>
              <a:t>3. Tran et al. (2017) – Food Recommender Systems Overview</a:t>
            </a:r>
          </a:p>
          <a:p>
            <a:r>
              <a:rPr lang="en-IN" b="1" dirty="0"/>
              <a:t>4. Chen et al. (2021) – Personalized Food Recommendation (WSDM ’21)</a:t>
            </a:r>
          </a:p>
          <a:p>
            <a:r>
              <a:rPr lang="en-IN" b="1" dirty="0"/>
              <a:t>5. Pawar et al. (2016) – Forward Checking for Recipe Search</a:t>
            </a:r>
          </a:p>
          <a:p>
            <a:r>
              <a:rPr lang="en-IN" b="1" dirty="0"/>
              <a:t>6. Python Documentation (2024)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721BC-42E2-4822-3086-5AF81F1A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8BC28-15FA-0C88-32FB-88458DEBB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07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468</Words>
  <Application>Microsoft Office PowerPoint</Application>
  <PresentationFormat>Widescreen</PresentationFormat>
  <Paragraphs>66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DEPARTMENT OF ARTIFICIAL INTELLIGENCE AND DATA SCIENCE ACADEMIC YEAR 2025 - 2026 SEMESTER III ARTIFICIAL INTELLIGENCE LABORATORY  MINI PROJECT REVIEW  &lt;INTELLIGENT RECIPE RECOMMENDER USING CONSTRAINT SATISFACTION PROBLEM&gt;</vt:lpstr>
      <vt:lpstr>PROBLEM STATEMENT</vt:lpstr>
      <vt:lpstr>THEORETICAL BACKGROUND</vt:lpstr>
      <vt:lpstr>IMPLEMENTATION AND CODE</vt:lpstr>
      <vt:lpstr>OUTPUT AND RESULTS</vt:lpstr>
      <vt:lpstr>OUTPUT AND RESULTS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SANKAR GANESH K</dc:creator>
  <cp:lastModifiedBy>Ritesh M.S.</cp:lastModifiedBy>
  <cp:revision>6</cp:revision>
  <dcterms:created xsi:type="dcterms:W3CDTF">2025-10-18T08:57:34Z</dcterms:created>
  <dcterms:modified xsi:type="dcterms:W3CDTF">2025-11-02T22:14:07Z</dcterms:modified>
</cp:coreProperties>
</file>